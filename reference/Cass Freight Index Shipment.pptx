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E89737-FA3C-4461-8889-B25810B5A964}">
  <a:tblStyle styleId="{C4E89737-FA3C-4461-8889-B25810B5A9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9B4E844-7F5A-45F2-B5AF-44E24648A35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27635a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27635a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679e9ebc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679e9ebc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b27635a0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b27635a0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679e9ebc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679e9ebc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679e9ebc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679e9ebc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75365d4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75365d4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75365d4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75365d4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5365d4d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75365d4d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77fc3499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77fc3499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77fc3499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77fc349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77fc3499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77fc3499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77fc3499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77fc3499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77fc349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77fc349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77fc3499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77fc3499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a716d727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a716d727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a716d72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a716d72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a716d727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a716d727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a716d727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a716d727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Cass Freight Index Shipment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Cass Freight Index: Shipments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It Measures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Monthly freight expenditures and shipment volumes from Cass Information Systems' client base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Covers tens of millions of invoices and billions in freight spend annually across diversified industries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Scope &amp; Limitations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Client-based only: Non-Cass clients are not covered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Timing lag: Data reflect the month invoices are processed, which may differ from actual shipment month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Adjustments applied: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Normalized to 21-day work months for consistency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Adjusted for client additions/deletions to enable fair month-to-month comparison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Cass Freight Index: Shipments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to Interpret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1052513" y="169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{C4E89737-FA3C-4461-8889-B25810B5A964}</a:tableStyleId>
              </a:tblPr>
              <a:tblGrid>
                <a:gridCol w="3286125"/>
                <a:gridCol w="375285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8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Rising Readings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8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Falling Readings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8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More shipping activity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8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Weakening shipment volumes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8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Stronger goods demand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8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Softening demand or inventory adjustments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8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Healthier freight/logistics environment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8"/>
                        </a:lnSpc>
                        <a:spcBef>
                          <a:spcPts val="1100"/>
                        </a:spcBef>
                        <a:spcAft>
                          <a:spcPts val="110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Supply chain pressures or contraction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950" marB="689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Observation/ Findings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The index is </a:t>
            </a:r>
            <a:r>
              <a:rPr lang="en" sz="1400">
                <a:solidFill>
                  <a:schemeClr val="dk1"/>
                </a:solidFill>
              </a:rPr>
              <a:t>periodic, drops from mid Q3 until early Q1 next year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1990 - 2024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--- Peak around Sep (Aug–Oct window) ---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Years evaluated (have Aug–Oct): 36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Drop from peak(Aug–Oct) to Dec: 34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No drop from peak(Aug–Oct) to Dec: 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--- SPY behavior when Cass drops (peak-&gt;Dec) ---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Years with SPY available: 32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Cass drop years: 31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SPY down given Cass drop: 7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SPY up given Cass drop: 24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0857"/>
            <a:ext cx="9144003" cy="4281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1928"/>
            <a:ext cx="9144003" cy="4299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Seasonality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analysis indicates seasonality in your data: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Seasonal Decomposition: The additive model shows a seasonal component with significant variation (standard deviation: 0.023).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Autocorrelation: Strong autocorrelation at lag 12 months (0.6177), well above the 95% confidence interval, indicating a yearly seasonal pattern.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Monthly Means: ANOVA test (p-value: 0.0386) shows monthly means are significantly different, confirming seasonality.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Monthly Pattern: September has the highest average (1.1218), while January has the lowest (1.0323).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573" y="0"/>
            <a:ext cx="5884851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00" y="92700"/>
            <a:ext cx="6796749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6799925" y="3144175"/>
            <a:ext cx="2254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Model used: Additive (automatically selected)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Variability reduction: 2.41% (standard deviation reduced from 0.106 to 0.104)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54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Freight Peak-Drop Analysis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SPY Reaction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Mostly Positive. SPY typically rises (avg +4.51%) during these freight drops.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Correlation (All Years): 0.4164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Correlation (Drop Years Only): 0.6286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Understanding the "Positive Correlation"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asked: "Why the correlation is positive? The Freight Index drops and SPY goes up."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because "Correlation" measures how two variables move relative to their means, not just whether they have the same sign.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Scenario A (Good): Freight drops mildly (-2%). SPY rises strongly (+10%).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Scenario B (Bad): Freight drops severely (-24%, e.g., 2008). SPY crashes (-35%).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both cases, a "Lower Freight" (more negative) corresponds to a "Lower SPY" (less positive or negative). Thus, the relationship is positive.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874" y="52050"/>
            <a:ext cx="6828450" cy="409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616900" y="4149125"/>
            <a:ext cx="82584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Top-Left Quadrant: Most points are here. Freight Drops (negative X), SPY Rises (positive Y).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Bottom-Left Quadrant: The "Crisis" zone (e.g. 2008). Freight Drops massively, and SPY Drops massively. Use this as a risk signal: if Freight is dropping fast, watch out.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Can’t predict when the Index peaks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Need to wait 2 months to calculate % change to determine if it is a mild change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 Impact Analysis (Trading the Drop)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 tested a strategy: "When the Freight Index Drop is CONFIRMED (data release), Buy SPY for 3 Months."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Trigger: Peak in Aug-Oct. Drop confirmed in official data release (approx. 1 month lag).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Action: Buy SPY. Hold 3 months (typically Q4: Oct-Dec).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Results (1993-2024):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Strategy Return: +2.86% (Average per 3-month trade)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Benchmarks Return: +2.36% (Average 3-month SPY return in general)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Alpha: +0.50%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Win Rate: 73.3% (vs 69.3% benchmark)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Conclusion: Buying the pattern works. The "Freight Drop" coincides with the strong seasonality of the stock market (Q4 Rally). It is not a bearish signal; it is a bullish seasonal confirmation.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Cass Freight Index VS SPY (1990 - 2025)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Lag (Months)    | Correlation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-----------------------------------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0               | -0.0446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               | 0.0114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               | 0.0507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6               | -0.0807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9               | 0.0898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              | -0.0729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Sector Lag Analysis</a:t>
            </a:r>
            <a:endParaRPr/>
          </a:p>
        </p:txBody>
      </p:sp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938" y="1100475"/>
            <a:ext cx="599012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to forecast the Index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7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20">
                <a:solidFill>
                  <a:schemeClr val="dk1"/>
                </a:solidFill>
              </a:rPr>
              <a:t>Method 1: Historical Peak Analysis</a:t>
            </a:r>
            <a:endParaRPr b="1" sz="1220">
              <a:solidFill>
                <a:schemeClr val="dk1"/>
              </a:solidFill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n" sz="1220">
                <a:solidFill>
                  <a:schemeClr val="dk1"/>
                </a:solidFill>
              </a:rPr>
              <a:t>Analyzes historical patterns from 1990–2025</a:t>
            </a:r>
            <a:endParaRPr sz="1220">
              <a:solidFill>
                <a:schemeClr val="dk1"/>
              </a:solidFill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n" sz="1220">
                <a:solidFill>
                  <a:schemeClr val="dk1"/>
                </a:solidFill>
              </a:rPr>
              <a:t>Finds that September is the most common peak month (47.2% of years)</a:t>
            </a:r>
            <a:endParaRPr sz="122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20">
                <a:solidFill>
                  <a:schemeClr val="dk1"/>
                </a:solidFill>
              </a:rPr>
              <a:t>Method 2: Seasonal Decomposition-Based Prediction</a:t>
            </a:r>
            <a:endParaRPr b="1" sz="1220">
              <a:solidFill>
                <a:schemeClr val="dk1"/>
              </a:solidFill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n" sz="1220">
                <a:solidFill>
                  <a:schemeClr val="dk1"/>
                </a:solidFill>
              </a:rPr>
              <a:t>Uses seasonal decomposition (trend + seasonal + residual)</a:t>
            </a:r>
            <a:endParaRPr sz="1220">
              <a:solidFill>
                <a:schemeClr val="dk1"/>
              </a:solidFill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n" sz="1220">
                <a:solidFill>
                  <a:schemeClr val="dk1"/>
                </a:solidFill>
              </a:rPr>
              <a:t>Extrapolates the trend forward and adds the seasonal component</a:t>
            </a:r>
            <a:endParaRPr sz="122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20">
                <a:solidFill>
                  <a:schemeClr val="dk1"/>
                </a:solidFill>
              </a:rPr>
              <a:t>Method 3: SARIMA (Seasonal ARIMA)</a:t>
            </a:r>
            <a:endParaRPr b="1" sz="1220">
              <a:solidFill>
                <a:schemeClr val="dk1"/>
              </a:solidFill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n" sz="1220">
                <a:solidFill>
                  <a:schemeClr val="dk1"/>
                </a:solidFill>
              </a:rPr>
              <a:t>Time series forecasting model that captures seasonality and autocorrelation</a:t>
            </a:r>
            <a:endParaRPr sz="1220">
              <a:solidFill>
                <a:schemeClr val="dk1"/>
              </a:solidFill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n" sz="1220">
                <a:solidFill>
                  <a:schemeClr val="dk1"/>
                </a:solidFill>
              </a:rPr>
              <a:t>Automatically selects best parameters (SARIMA(1,1,1)(0,1,1,12))</a:t>
            </a:r>
            <a:endParaRPr sz="122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20">
                <a:solidFill>
                  <a:schemeClr val="dk1"/>
                </a:solidFill>
              </a:rPr>
              <a:t>Method 4: Historical Average with Trend Adjustment</a:t>
            </a:r>
            <a:endParaRPr b="1" sz="1220">
              <a:solidFill>
                <a:schemeClr val="dk1"/>
              </a:solidFill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n" sz="1220">
                <a:solidFill>
                  <a:schemeClr val="dk1"/>
                </a:solidFill>
              </a:rPr>
              <a:t>Uses average historical peak value (1.1309)</a:t>
            </a:r>
            <a:endParaRPr sz="1220">
              <a:solidFill>
                <a:schemeClr val="dk1"/>
              </a:solidFill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Char char="●"/>
            </a:pPr>
            <a:r>
              <a:rPr lang="en" sz="1220">
                <a:solidFill>
                  <a:schemeClr val="dk1"/>
                </a:solidFill>
              </a:rPr>
              <a:t>Adjusts for recent trend (-0.0730 per year, indicating declining peaks)</a:t>
            </a:r>
            <a:endParaRPr sz="122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p29"/>
          <p:cNvGraphicFramePr/>
          <p:nvPr/>
        </p:nvGraphicFramePr>
        <p:xfrm>
          <a:off x="669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{29B4E844-7F5A-45F2-B5AF-44E24648A35F}</a:tableStyleId>
              </a:tblPr>
              <a:tblGrid>
                <a:gridCol w="1496725"/>
                <a:gridCol w="1496725"/>
                <a:gridCol w="1496725"/>
                <a:gridCol w="1496725"/>
                <a:gridCol w="1496725"/>
                <a:gridCol w="1496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Month           </a:t>
                      </a:r>
                      <a:endParaRPr b="1"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 Method 1: Historical Aver </a:t>
                      </a:r>
                      <a:endParaRPr b="1"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 Method 2: Seasonal Decomp </a:t>
                      </a:r>
                      <a:endParaRPr b="1"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highlight>
                            <a:srgbClr val="FFFF00"/>
                          </a:highlight>
                        </a:rPr>
                        <a:t> Method 3: SARIMA</a:t>
                      </a:r>
                      <a:endParaRPr b="1"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 Method 4: Historical + Tr</a:t>
                      </a:r>
                      <a:endParaRPr b="1"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highlight>
                            <a:srgbClr val="FFFF00"/>
                          </a:highlight>
                        </a:rPr>
                        <a:t>Actual Value</a:t>
                      </a:r>
                      <a:endParaRPr b="1"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Sep-25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1.1218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1.0853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1.0266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1.1176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1.042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Oct-25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1.1041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1.0677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1.0044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1.0958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0.997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Nov-25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1.0916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1.0552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0.9944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1.0791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1.004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Dec-25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1.0523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1.0158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0.9611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1.0357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0.93191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Jan-26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1.0323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0.9967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0.9223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1.0115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Feb-26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1.073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1.0387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0.9787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1.0481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Mar-26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1.0919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1.058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0.9907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1.0628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Apr-26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1.0839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1.05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0.9779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1.0507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May-26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1.0934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1.0604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1.0004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1.056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Jun-26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1.0999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1.0675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0.9905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1.0584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Jul-26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1.0838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1.0508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0.9851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1.0381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Aug-26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1.1038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1.0719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FFFF00"/>
                          </a:highlight>
                        </a:rPr>
                        <a:t>1.0019</a:t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1.0539</a:t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4" y="0"/>
            <a:ext cx="904973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